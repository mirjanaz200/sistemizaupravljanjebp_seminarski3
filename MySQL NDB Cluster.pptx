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92" d="100"/>
          <a:sy n="92" d="100"/>
        </p:scale>
        <p:origin x="64" y="2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15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801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859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8912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71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57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19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15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59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19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6/27/2021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49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C94C5-CBA9-4801-A961-A7ECFED42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 err="1"/>
              <a:t>MySQL</a:t>
            </a:r>
            <a:r>
              <a:rPr lang="sr-Latn-RS" dirty="0"/>
              <a:t> NDB </a:t>
            </a:r>
            <a:r>
              <a:rPr lang="sr-Latn-RS" dirty="0" err="1"/>
              <a:t>Cluster</a:t>
            </a:r>
            <a:r>
              <a:rPr lang="sr-Latn-RS" dirty="0"/>
              <a:t> kao distribuirana baza podataka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5EADC-DBBF-4165-9084-5BB427CA55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/>
              <a:t>Student: Mirjana Živković 1274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263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FA9C4-10AE-405D-99B2-3B79788CD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Uvod u distribuirane baze podataka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62E1E-21AC-4260-BDE1-4A6D9E81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Razlozi za uvođenje</a:t>
            </a:r>
          </a:p>
          <a:p>
            <a:pPr lvl="1"/>
            <a:r>
              <a:rPr lang="sr-Latn-RS" dirty="0"/>
              <a:t>Performanse</a:t>
            </a:r>
          </a:p>
          <a:p>
            <a:pPr lvl="1"/>
            <a:r>
              <a:rPr lang="sr-Latn-RS" dirty="0"/>
              <a:t>Dostupnost</a:t>
            </a:r>
          </a:p>
          <a:p>
            <a:pPr lvl="1"/>
            <a:r>
              <a:rPr lang="sr-Latn-RS" dirty="0"/>
              <a:t>Distribuirani pristup podacima</a:t>
            </a:r>
          </a:p>
          <a:p>
            <a:r>
              <a:rPr lang="sr-Latn-RS" dirty="0"/>
              <a:t>DBMS radi nezavisno na svakoj lokaciji</a:t>
            </a:r>
          </a:p>
          <a:p>
            <a:r>
              <a:rPr lang="sr-Latn-RS" dirty="0" err="1"/>
              <a:t>Distribuiranost</a:t>
            </a:r>
            <a:r>
              <a:rPr lang="sr-Latn-RS" dirty="0"/>
              <a:t> podataka transparentna za korisnika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71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C3BD5-B999-41FE-9B7B-66B1EDB7E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sr-Latn-RS" dirty="0"/>
              <a:t>Skladištenje podataka kod distribuiranih </a:t>
            </a:r>
            <a:r>
              <a:rPr lang="sr-Latn-RS" dirty="0" err="1"/>
              <a:t>dbms</a:t>
            </a:r>
            <a:r>
              <a:rPr lang="sr-Latn-RS" dirty="0"/>
              <a:t>-a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690BB-6603-4150-9D3C-A6A00B61F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r>
              <a:rPr lang="sr-Latn-RS">
                <a:solidFill>
                  <a:srgbClr val="404040"/>
                </a:solidFill>
              </a:rPr>
              <a:t>Deljenje relacije na particije ili fragmente ili replikacija u cilju smanjenja kašnjenja</a:t>
            </a:r>
          </a:p>
          <a:p>
            <a:r>
              <a:rPr lang="sr-Latn-RS">
                <a:solidFill>
                  <a:srgbClr val="404040"/>
                </a:solidFill>
              </a:rPr>
              <a:t>Horizontalna fragmentacija – redovi</a:t>
            </a:r>
          </a:p>
          <a:p>
            <a:r>
              <a:rPr lang="sr-Latn-RS">
                <a:solidFill>
                  <a:srgbClr val="404040"/>
                </a:solidFill>
              </a:rPr>
              <a:t>Vertikalna fragmentacija – kolone</a:t>
            </a:r>
          </a:p>
          <a:p>
            <a:r>
              <a:rPr lang="sr-Latn-RS">
                <a:solidFill>
                  <a:srgbClr val="404040"/>
                </a:solidFill>
              </a:rPr>
              <a:t>Replikacija – čuvanje više kopija relacije ili relacionog fragmenta</a:t>
            </a:r>
          </a:p>
          <a:p>
            <a:r>
              <a:rPr lang="sr-Latn-RS">
                <a:solidFill>
                  <a:srgbClr val="404040"/>
                </a:solidFill>
              </a:rPr>
              <a:t>Jedinstveni ID za fragmente i replikacije</a:t>
            </a:r>
          </a:p>
          <a:p>
            <a:r>
              <a:rPr lang="sr-Latn-RS">
                <a:solidFill>
                  <a:srgbClr val="404040"/>
                </a:solidFill>
              </a:rPr>
              <a:t>Globalno ime relacije i globalno ime replike</a:t>
            </a:r>
            <a:endParaRPr lang="en-US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596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C72FF-3F64-4009-B2EC-994A45FDA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Ažuriranje distribuiranih podataka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28E94-920F-4D63-9180-7B951A074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Sinhrona </a:t>
            </a:r>
            <a:r>
              <a:rPr lang="sr-Latn-RS" dirty="0" err="1"/>
              <a:t>replikacija</a:t>
            </a:r>
            <a:r>
              <a:rPr lang="sr-Latn-RS" dirty="0"/>
              <a:t> – sve kopije modifikovane relacije moraju da se ažuriraju pre </a:t>
            </a:r>
            <a:r>
              <a:rPr lang="sr-Latn-RS" dirty="0" err="1"/>
              <a:t>commit</a:t>
            </a:r>
            <a:r>
              <a:rPr lang="sr-Latn-RS" dirty="0"/>
              <a:t>-a</a:t>
            </a:r>
          </a:p>
          <a:p>
            <a:pPr lvl="1"/>
            <a:r>
              <a:rPr lang="sr-Latn-RS" dirty="0"/>
              <a:t>Glasanje</a:t>
            </a:r>
          </a:p>
          <a:p>
            <a:pPr lvl="1"/>
            <a:r>
              <a:rPr lang="sr-Latn-RS" dirty="0" err="1"/>
              <a:t>Read-any</a:t>
            </a:r>
            <a:r>
              <a:rPr lang="sr-Latn-RS" dirty="0"/>
              <a:t> </a:t>
            </a:r>
            <a:r>
              <a:rPr lang="sr-Latn-RS" dirty="0" err="1"/>
              <a:t>write-all</a:t>
            </a:r>
            <a:endParaRPr lang="sr-Latn-RS" dirty="0"/>
          </a:p>
          <a:p>
            <a:r>
              <a:rPr lang="sr-Latn-RS" dirty="0"/>
              <a:t>Asinhrona </a:t>
            </a:r>
            <a:r>
              <a:rPr lang="sr-Latn-RS" dirty="0" err="1"/>
              <a:t>replikacija</a:t>
            </a:r>
            <a:r>
              <a:rPr lang="sr-Latn-RS" dirty="0"/>
              <a:t> – kopije se ažuriraju periodično</a:t>
            </a:r>
          </a:p>
          <a:p>
            <a:pPr lvl="1"/>
            <a:r>
              <a:rPr lang="sr-Latn-RS" dirty="0" err="1"/>
              <a:t>Primary</a:t>
            </a:r>
            <a:r>
              <a:rPr lang="sr-Latn-RS" dirty="0"/>
              <a:t> site</a:t>
            </a:r>
          </a:p>
          <a:p>
            <a:pPr lvl="1"/>
            <a:r>
              <a:rPr lang="sr-Latn-RS" dirty="0" err="1"/>
              <a:t>Peer</a:t>
            </a:r>
            <a:r>
              <a:rPr lang="sr-Latn-RS" dirty="0"/>
              <a:t>-to-</a:t>
            </a:r>
            <a:r>
              <a:rPr lang="sr-Latn-RS" dirty="0" err="1"/>
              <a:t>peer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34729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8FEC-115F-4566-A61D-DC0419B76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/>
              <a:t>MySQL</a:t>
            </a:r>
            <a:r>
              <a:rPr lang="sr-Latn-RS" dirty="0"/>
              <a:t> </a:t>
            </a:r>
            <a:r>
              <a:rPr lang="sr-Latn-RS" dirty="0" err="1"/>
              <a:t>ndb</a:t>
            </a:r>
            <a:r>
              <a:rPr lang="sr-Latn-RS" dirty="0"/>
              <a:t> </a:t>
            </a:r>
            <a:r>
              <a:rPr lang="sr-Latn-RS" dirty="0" err="1"/>
              <a:t>cluster</a:t>
            </a:r>
            <a:r>
              <a:rPr lang="sr-Latn-RS" dirty="0"/>
              <a:t> 8.0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2A0D6-D4AA-4408-9AC7-AD6AD59BE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Verzija </a:t>
            </a:r>
            <a:r>
              <a:rPr lang="sr-Latn-RS" dirty="0" err="1"/>
              <a:t>MySQL</a:t>
            </a:r>
            <a:r>
              <a:rPr lang="sr-Latn-RS" dirty="0"/>
              <a:t>-a adaptirana za distribuirano okruženje</a:t>
            </a:r>
          </a:p>
          <a:p>
            <a:r>
              <a:rPr lang="sr-Latn-RS" dirty="0"/>
              <a:t>In-</a:t>
            </a:r>
            <a:r>
              <a:rPr lang="sr-Latn-RS" dirty="0" err="1"/>
              <a:t>memory</a:t>
            </a:r>
            <a:r>
              <a:rPr lang="sr-Latn-RS" dirty="0"/>
              <a:t> baza</a:t>
            </a:r>
          </a:p>
          <a:p>
            <a:r>
              <a:rPr lang="sr-Latn-RS" dirty="0" err="1"/>
              <a:t>Shared-nothing</a:t>
            </a:r>
            <a:r>
              <a:rPr lang="sr-Latn-RS" dirty="0"/>
              <a:t> arhitektura – svaki zahtev za ažuriranjem obavlja samo jedan čvor</a:t>
            </a:r>
          </a:p>
          <a:p>
            <a:r>
              <a:rPr lang="sr-Latn-RS" dirty="0"/>
              <a:t>Eliminiše single </a:t>
            </a:r>
            <a:r>
              <a:rPr lang="sr-Latn-RS" dirty="0" err="1"/>
              <a:t>point</a:t>
            </a:r>
            <a:r>
              <a:rPr lang="sr-Latn-RS" dirty="0"/>
              <a:t> </a:t>
            </a:r>
            <a:r>
              <a:rPr lang="sr-Latn-RS" dirty="0" err="1"/>
              <a:t>of</a:t>
            </a:r>
            <a:r>
              <a:rPr lang="sr-Latn-RS" dirty="0"/>
              <a:t> </a:t>
            </a:r>
            <a:r>
              <a:rPr lang="sr-Latn-RS" dirty="0" err="1"/>
              <a:t>failure</a:t>
            </a:r>
            <a:endParaRPr lang="sr-Latn-RS" dirty="0"/>
          </a:p>
          <a:p>
            <a:r>
              <a:rPr lang="sr-Latn-RS" dirty="0"/>
              <a:t>Standardni </a:t>
            </a:r>
            <a:r>
              <a:rPr lang="sr-Latn-RS" dirty="0" err="1"/>
              <a:t>MySQL</a:t>
            </a:r>
            <a:r>
              <a:rPr lang="sr-Latn-RS" dirty="0"/>
              <a:t> server + NDB </a:t>
            </a:r>
            <a:r>
              <a:rPr lang="sr-Latn-RS" dirty="0" err="1"/>
              <a:t>storage</a:t>
            </a:r>
            <a:r>
              <a:rPr lang="sr-Latn-RS" dirty="0"/>
              <a:t> </a:t>
            </a:r>
            <a:r>
              <a:rPr lang="sr-Latn-RS" dirty="0" err="1"/>
              <a:t>engine</a:t>
            </a:r>
            <a:r>
              <a:rPr lang="sr-Latn-RS" dirty="0"/>
              <a:t> </a:t>
            </a:r>
          </a:p>
          <a:p>
            <a:endParaRPr lang="en-US" dirty="0"/>
          </a:p>
        </p:txBody>
      </p:sp>
      <p:pic>
        <p:nvPicPr>
          <p:cNvPr id="4" name="Picture 3" descr="Shared-nothing architecture | Download Scientific Diagram">
            <a:extLst>
              <a:ext uri="{FF2B5EF4-FFF2-40B4-BE49-F238E27FC236}">
                <a16:creationId xmlns:a16="http://schemas.microsoft.com/office/drawing/2014/main" id="{0E55DED1-426D-48FB-AF6A-1FE44A6A7FD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7"/>
          <a:stretch/>
        </p:blipFill>
        <p:spPr bwMode="auto">
          <a:xfrm>
            <a:off x="7472218" y="4226647"/>
            <a:ext cx="4336473" cy="19570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6875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10C7-6A8A-41DA-A3A1-D0C769D42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>
            <a:normAutofit/>
          </a:bodyPr>
          <a:lstStyle/>
          <a:p>
            <a:r>
              <a:rPr lang="sr-Latn-RS" dirty="0"/>
              <a:t>Glavni koncepti </a:t>
            </a:r>
            <a:r>
              <a:rPr lang="sr-Latn-RS" dirty="0" err="1"/>
              <a:t>ndb</a:t>
            </a:r>
            <a:r>
              <a:rPr lang="sr-Latn-RS" dirty="0"/>
              <a:t> klastera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50241-2E0E-4B75-900D-5DB3D8F46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4492932" cy="3263206"/>
          </a:xfrm>
        </p:spPr>
        <p:txBody>
          <a:bodyPr>
            <a:normAutofit fontScale="92500" lnSpcReduction="20000"/>
          </a:bodyPr>
          <a:lstStyle/>
          <a:p>
            <a:r>
              <a:rPr lang="sr-Latn-RS" sz="1700"/>
              <a:t>Svaki proces u klasteru se smatra čvorom</a:t>
            </a:r>
          </a:p>
          <a:p>
            <a:r>
              <a:rPr lang="sr-Latn-RS" sz="1700"/>
              <a:t>Tri tipa čvorova</a:t>
            </a:r>
          </a:p>
          <a:p>
            <a:pPr lvl="1"/>
            <a:r>
              <a:rPr lang="sr-Latn-RS" sz="1700"/>
              <a:t>Čvor za upravljanje: šalje podatke za konfiguraciju</a:t>
            </a:r>
          </a:p>
          <a:p>
            <a:pPr lvl="1"/>
            <a:r>
              <a:rPr lang="sr-Latn-RS" sz="1700"/>
              <a:t>Čvor sa podacima: podaci klastera</a:t>
            </a:r>
          </a:p>
          <a:p>
            <a:pPr lvl="1"/>
            <a:r>
              <a:rPr lang="sr-Latn-RS" sz="1700"/>
              <a:t>SQL čvor: Pristupa podacima – standardni </a:t>
            </a:r>
            <a:r>
              <a:rPr lang="sr-Latn-RS" sz="1700" err="1"/>
              <a:t>MySQL</a:t>
            </a:r>
            <a:r>
              <a:rPr lang="sr-Latn-RS" sz="1700"/>
              <a:t> Server</a:t>
            </a:r>
          </a:p>
          <a:p>
            <a:pPr lvl="1"/>
            <a:r>
              <a:rPr lang="sr-Latn-RS" sz="1700"/>
              <a:t>Svi čvorovi moraju da znaju na kojoj je adresi čvor za upravljanje</a:t>
            </a:r>
          </a:p>
          <a:p>
            <a:pPr lvl="1"/>
            <a:r>
              <a:rPr lang="sr-Latn-RS" sz="1700"/>
              <a:t>Na osnovnu arhitekturu se dodaju klijentski procesi i aplikacije</a:t>
            </a:r>
            <a:endParaRPr lang="en-US" sz="1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533F40-045E-4E3D-9243-864CD4E58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402EC6-D845-41B3-BEBE-CB34D9BFE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EDBCAA8-0E85-47DB-81DC-77025A1DFD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72789" y="1896653"/>
            <a:ext cx="4782312" cy="307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0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4D261-9AD8-4E69-A8AF-9F815A1A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sr-Latn-RS" dirty="0"/>
              <a:t>Grupe čvorova, replike fragmenata, particije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CD92A-1D60-4487-A94C-0C528A8C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/>
          </a:bodyPr>
          <a:lstStyle/>
          <a:p>
            <a:r>
              <a:rPr lang="sr-Latn-RS" dirty="0"/>
              <a:t>Čvor sa podacima – sadrži jednu ili više repliku fragmenta</a:t>
            </a:r>
          </a:p>
          <a:p>
            <a:r>
              <a:rPr lang="sr-Latn-RS" dirty="0"/>
              <a:t>Grupa – jedan ili više čvorova i čuva skupove replika fragmenata</a:t>
            </a:r>
          </a:p>
          <a:p>
            <a:r>
              <a:rPr lang="sr-Latn-RS" dirty="0"/>
              <a:t>Particija – deo podataka uskladišten na klasteru</a:t>
            </a:r>
          </a:p>
          <a:p>
            <a:r>
              <a:rPr lang="sr-Latn-RS" dirty="0" err="1"/>
              <a:t>Particionisanje</a:t>
            </a:r>
            <a:r>
              <a:rPr lang="sr-Latn-RS" dirty="0"/>
              <a:t> se odvija automatski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1D49BDC8-3268-4F2F-A640-11CC34F4A6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64628" y="1293275"/>
            <a:ext cx="3230940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38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6FC1-AB40-415F-83AE-075F26A6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sr-Latn-RS" dirty="0"/>
              <a:t>Softverski, hardverski i mrežni zahtevi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66D7-2905-43EC-BEC5-1DB4C8B6C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r-Latn-RS" dirty="0"/>
              <a:t>Jeftin hardver – jedino veći zahtevi za RAM-om</a:t>
            </a:r>
            <a:endParaRPr lang="sr-Latn-RS"/>
          </a:p>
          <a:p>
            <a:pPr>
              <a:lnSpc>
                <a:spcPct val="90000"/>
              </a:lnSpc>
            </a:pPr>
            <a:r>
              <a:rPr lang="sr-Latn-RS" dirty="0"/>
              <a:t>Softverski zahtevi – jednostavni, ne zahtevaju posebne module, servise, samo instalaciju NDB klastera</a:t>
            </a:r>
            <a:endParaRPr lang="sr-Latn-RS"/>
          </a:p>
          <a:p>
            <a:pPr>
              <a:lnSpc>
                <a:spcPct val="90000"/>
              </a:lnSpc>
            </a:pPr>
            <a:r>
              <a:rPr lang="sr-Latn-RS" dirty="0"/>
              <a:t>Preporučuje se da radi na posebnom </a:t>
            </a:r>
            <a:r>
              <a:rPr lang="sr-Latn-RS" dirty="0" err="1"/>
              <a:t>subnet</a:t>
            </a:r>
            <a:r>
              <a:rPr lang="sr-Latn-RS" dirty="0"/>
              <a:t>-u zbog bezbednosti i efikasnosti</a:t>
            </a:r>
            <a:endParaRPr lang="sr-Latn-RS"/>
          </a:p>
          <a:p>
            <a:pPr>
              <a:lnSpc>
                <a:spcPct val="90000"/>
              </a:lnSpc>
            </a:pPr>
            <a:r>
              <a:rPr lang="sr-Latn-RS" dirty="0"/>
              <a:t>Komunikacija između čvorova sa podacima i API čvorovima</a:t>
            </a:r>
            <a:endParaRPr lang="sr-Latn-RS"/>
          </a:p>
          <a:p>
            <a:pPr>
              <a:lnSpc>
                <a:spcPct val="90000"/>
              </a:lnSpc>
            </a:pPr>
            <a:r>
              <a:rPr lang="sr-Latn-RS" dirty="0"/>
              <a:t>Koristi se </a:t>
            </a:r>
            <a:r>
              <a:rPr lang="sr-Latn-RS" dirty="0" err="1"/>
              <a:t>heartbeating</a:t>
            </a:r>
            <a:r>
              <a:rPr lang="sr-Latn-RS" dirty="0"/>
              <a:t> i </a:t>
            </a:r>
            <a:r>
              <a:rPr lang="sr-Latn-RS" dirty="0" err="1"/>
              <a:t>timeout</a:t>
            </a:r>
            <a:r>
              <a:rPr lang="sr-Latn-RS" dirty="0"/>
              <a:t> – izbegavati prekide u komunikaciji</a:t>
            </a:r>
            <a:endParaRPr lang="sr-Latn-RS"/>
          </a:p>
          <a:p>
            <a:pPr>
              <a:lnSpc>
                <a:spcPct val="90000"/>
              </a:lnSpc>
            </a:pPr>
            <a:r>
              <a:rPr lang="sr-Latn-RS" dirty="0"/>
              <a:t>Povećati </a:t>
            </a:r>
            <a:r>
              <a:rPr lang="sr-Latn-RS" dirty="0" err="1"/>
              <a:t>timeout</a:t>
            </a:r>
            <a:r>
              <a:rPr lang="sr-Latn-RS" dirty="0"/>
              <a:t> parametre ako ima velikog kašnjenja među čvorovima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F0E394D-7656-4597-8FB9-2D50393E1D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15890" y="2130728"/>
            <a:ext cx="3328416" cy="260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62ADF-1A19-4082-ABF3-A1F4D917F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Instalacija i konfiguracija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FF192-815E-4A82-80C7-2D039B4F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Da bi </a:t>
            </a:r>
            <a:r>
              <a:rPr lang="sr-Latn-RS" dirty="0" err="1"/>
              <a:t>MySQL</a:t>
            </a:r>
            <a:r>
              <a:rPr lang="sr-Latn-RS" dirty="0"/>
              <a:t> Server radio kao deo NDB klastera – pokreće se sa opcijama </a:t>
            </a:r>
            <a:r>
              <a:rPr lang="sr-Latn-RS" dirty="0" err="1"/>
              <a:t>ndbcluster</a:t>
            </a:r>
            <a:r>
              <a:rPr lang="sr-Latn-RS" dirty="0"/>
              <a:t> i </a:t>
            </a:r>
            <a:r>
              <a:rPr lang="sr-Latn-RS" dirty="0" err="1"/>
              <a:t>ndb-connectstring</a:t>
            </a:r>
            <a:endParaRPr lang="sr-Latn-RS" dirty="0"/>
          </a:p>
          <a:p>
            <a:r>
              <a:rPr lang="sr-Latn-RS" dirty="0"/>
              <a:t>Čvor sa podacima mora da zna adresu upravljačkog čvora</a:t>
            </a:r>
          </a:p>
          <a:p>
            <a:r>
              <a:rPr lang="sr-Latn-RS" dirty="0"/>
              <a:t>Upravljačkom čvoru su potrebna dva fajla</a:t>
            </a:r>
          </a:p>
          <a:p>
            <a:r>
              <a:rPr lang="sr-Latn-RS" dirty="0"/>
              <a:t>Prvi – lokalni konfiguracioni fajl gde se navode podaci za sam čvor</a:t>
            </a:r>
          </a:p>
          <a:p>
            <a:r>
              <a:rPr lang="sr-Latn-RS" dirty="0"/>
              <a:t>Drugi – globalni konfiguracioni fajl</a:t>
            </a:r>
          </a:p>
          <a:p>
            <a:r>
              <a:rPr lang="sr-Latn-RS" dirty="0"/>
              <a:t>Sadrži deo za svaki čvor klastera</a:t>
            </a:r>
            <a:endParaRPr lang="en-US" dirty="0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A9F000DC-34EC-44D5-8FBF-2BA3DFD0DA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699119" y="2983172"/>
            <a:ext cx="2523490" cy="549910"/>
          </a:xfrm>
          <a:prstGeom prst="rect">
            <a:avLst/>
          </a:prstGeom>
        </p:spPr>
      </p:pic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F2BABF8-94C4-4E90-8944-125B9BEE120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83936" y="4464658"/>
            <a:ext cx="3371446" cy="220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17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E698-F82F-4DBB-BB1B-DA26A534C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Pokretanje čvorova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9D70D-2CB8-4584-81E3-D08A487D6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Prvi se startuje upravljački server – on prosleđuje konfiguraciju svim ostalim čvorovima</a:t>
            </a:r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Pokrenuto je i 4 čvora sa podacima</a:t>
            </a:r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Na kraju je startovan </a:t>
            </a:r>
            <a:r>
              <a:rPr lang="sr-Latn-RS" dirty="0" err="1"/>
              <a:t>MySQL</a:t>
            </a:r>
            <a:r>
              <a:rPr lang="sr-Latn-RS" dirty="0"/>
              <a:t> server</a:t>
            </a:r>
          </a:p>
          <a:p>
            <a:endParaRPr lang="sr-Latn-R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4895C-D159-484F-8953-1A1C82B49D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93473" y="3231890"/>
            <a:ext cx="5943600" cy="634365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5B77145-FCD6-4DBB-BD1A-EE5DB729226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59231" y="4460101"/>
            <a:ext cx="2631787" cy="66907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7E08FB31-3677-493E-8F83-ADA43FF1D6B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282971" y="4460101"/>
            <a:ext cx="4015574" cy="669077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C82DCFDA-4E67-46C3-84A9-2D80B0F1353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114963" y="5688312"/>
            <a:ext cx="6116782" cy="109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84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02857-4E3A-4875-9AD5-8D4BC0CC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831274"/>
            <a:ext cx="7729728" cy="5273962"/>
          </a:xfrm>
        </p:spPr>
        <p:txBody>
          <a:bodyPr/>
          <a:lstStyle/>
          <a:p>
            <a:r>
              <a:rPr lang="sr-Latn-RS" dirty="0"/>
              <a:t>Za proveru statusa svih čvorova:</a:t>
            </a:r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r>
              <a:rPr lang="sr-Latn-RS" dirty="0"/>
              <a:t>Da bi se ubacili podaci u klaster – kao </a:t>
            </a:r>
            <a:r>
              <a:rPr lang="sr-Latn-RS" dirty="0" err="1"/>
              <a:t>storage</a:t>
            </a:r>
            <a:r>
              <a:rPr lang="sr-Latn-RS" dirty="0"/>
              <a:t> </a:t>
            </a:r>
            <a:r>
              <a:rPr lang="sr-Latn-RS" dirty="0" err="1"/>
              <a:t>engine</a:t>
            </a:r>
            <a:r>
              <a:rPr lang="sr-Latn-RS" dirty="0"/>
              <a:t> se navodi NDBCLUSTER</a:t>
            </a:r>
          </a:p>
          <a:p>
            <a:r>
              <a:rPr lang="sr-Latn-RS" dirty="0"/>
              <a:t>Za demonstraciju iskorišćena </a:t>
            </a:r>
            <a:r>
              <a:rPr lang="sr-Latn-RS" dirty="0" err="1"/>
              <a:t>world</a:t>
            </a:r>
            <a:r>
              <a:rPr lang="sr-Latn-RS" dirty="0"/>
              <a:t> DB</a:t>
            </a:r>
          </a:p>
          <a:p>
            <a:r>
              <a:rPr lang="sr-Latn-RS" dirty="0"/>
              <a:t>Provera da li je </a:t>
            </a:r>
            <a:r>
              <a:rPr lang="sr-Latn-RS" dirty="0" err="1"/>
              <a:t>MySQL</a:t>
            </a:r>
            <a:r>
              <a:rPr lang="sr-Latn-RS" dirty="0"/>
              <a:t> server povezan na klaster</a:t>
            </a:r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Na klijentu za upravljački čvor provera zauzeća memorije</a:t>
            </a:r>
          </a:p>
          <a:p>
            <a:endParaRPr lang="sr-Latn-RS" dirty="0"/>
          </a:p>
          <a:p>
            <a:pPr marL="0" indent="0">
              <a:buNone/>
            </a:pPr>
            <a:endParaRPr lang="sr-Latn-RS" dirty="0"/>
          </a:p>
          <a:p>
            <a:endParaRPr lang="sr-Latn-RS" dirty="0"/>
          </a:p>
          <a:p>
            <a:endParaRPr lang="en-US" dirty="0"/>
          </a:p>
        </p:txBody>
      </p:sp>
      <p:pic>
        <p:nvPicPr>
          <p:cNvPr id="4" name="Picture 3" descr="Calendar&#10;&#10;Description automatically generated with medium confidence">
            <a:extLst>
              <a:ext uri="{FF2B5EF4-FFF2-40B4-BE49-F238E27FC236}">
                <a16:creationId xmlns:a16="http://schemas.microsoft.com/office/drawing/2014/main" id="{7DCCB7C5-B0AD-4AB6-A76D-962344E38E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2536" y="1240213"/>
            <a:ext cx="5086927" cy="1770842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E2D3F1D-9871-487A-8233-2F98A4F0040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233447" y="3607290"/>
            <a:ext cx="2508885" cy="1786255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0BDD76BE-F81A-42DE-81DA-B24701EB03D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739546" y="4500417"/>
            <a:ext cx="5025763" cy="681962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67F42FC1-1964-43F2-B1B1-9AA228C891C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260171" y="5617787"/>
            <a:ext cx="3671655" cy="115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21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3E1C3D-633C-4756-B09B-9AD08071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95DAF8-54BC-4834-A4B1-7DD2F7AF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E8DAD-8237-4214-BCB9-1AF51246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sr-Latn-RS" sz="6000">
                <a:solidFill>
                  <a:srgbClr val="FFFFFF"/>
                </a:solidFill>
              </a:rPr>
              <a:t>HVALA NA Pažnji !</a:t>
            </a:r>
            <a:br>
              <a:rPr lang="sr-Latn-RS" sz="6000">
                <a:solidFill>
                  <a:srgbClr val="FFFFFF"/>
                </a:solidFill>
              </a:rPr>
            </a:br>
            <a:r>
              <a:rPr lang="sr-Latn-RS" sz="6000">
                <a:solidFill>
                  <a:srgbClr val="FFFFFF"/>
                </a:solidFill>
              </a:rPr>
              <a:t>Pitanja ?</a:t>
            </a:r>
            <a:endParaRPr lang="en-US" sz="6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88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131</TotalTime>
  <Words>446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MySQL NDB Cluster kao distribuirana baza podataka</vt:lpstr>
      <vt:lpstr>Uvod u distribuirane baze podataka</vt:lpstr>
      <vt:lpstr>Skladištenje podataka kod distribuiranih dbms-a</vt:lpstr>
      <vt:lpstr>Ažuriranje distribuiranih podataka</vt:lpstr>
      <vt:lpstr>MySQL ndb cluster 8.0</vt:lpstr>
      <vt:lpstr>Glavni koncepti ndb klastera</vt:lpstr>
      <vt:lpstr>Grupe čvorova, replike fragmenata, particije</vt:lpstr>
      <vt:lpstr>Softverski, hardverski i mrežni zahtevi</vt:lpstr>
      <vt:lpstr>Instalacija i konfiguracija</vt:lpstr>
      <vt:lpstr>Pokretanje čvorova</vt:lpstr>
      <vt:lpstr>PowerPoint Presentation</vt:lpstr>
      <vt:lpstr>HVALA NA Pažnji ! Pitanja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NDB Cluster kao distribuirana baza podataka</dc:title>
  <dc:creator>Zivkovic, Mirjana (RS)</dc:creator>
  <cp:lastModifiedBy>Zivkovic, Mirjana (RS)</cp:lastModifiedBy>
  <cp:revision>14</cp:revision>
  <dcterms:created xsi:type="dcterms:W3CDTF">2021-06-27T16:56:14Z</dcterms:created>
  <dcterms:modified xsi:type="dcterms:W3CDTF">2021-06-27T19:07:49Z</dcterms:modified>
</cp:coreProperties>
</file>